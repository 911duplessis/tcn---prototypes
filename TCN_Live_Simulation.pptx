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287500" cy="8382000"/>
  <p:notesSz cx="8382000" cy="14287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8382000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28650"/>
            <a:ext cx="142875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" y="190500"/>
            <a:ext cx="247650" cy="24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23838"/>
            <a:ext cx="37903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Simulation — Live Event Stream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2883753" y="152400"/>
            <a:ext cx="1137047" cy="323850"/>
          </a:xfrm>
          <a:prstGeom prst="roundRect">
            <a:avLst>
              <a:gd name="adj" fmla="val 29412"/>
            </a:avLst>
          </a:prstGeom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064728" y="247650"/>
            <a:ext cx="8512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Simulation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66700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225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7675" y="1000125"/>
            <a:ext cx="85725" cy="85725"/>
          </a:xfrm>
          <a:prstGeom prst="ellipse">
            <a:avLst/>
          </a:prstGeom>
          <a:solidFill>
            <a:srgbClr val="4A7CF0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" y="971550"/>
            <a:ext cx="9952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FEED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428625" y="1409700"/>
            <a:ext cx="4002286" cy="1847850"/>
          </a:xfrm>
          <a:prstGeom prst="roundRect">
            <a:avLst>
              <a:gd name="adj" fmla="val 721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0550" y="1552575"/>
            <a:ext cx="361950" cy="3619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552450" y="15525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1047750" y="1590675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047750" y="1733550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· Pretoria East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90550" y="1990725"/>
            <a:ext cx="37979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someone to install artificial grass at my new place. Anyone know a trusted company?"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0550" y="2505075"/>
            <a:ext cx="3797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comments · 2 shares</a:t>
            </a:r>
            <a:endParaRPr lang="en-US" sz="825" dirty="0"/>
          </a:p>
        </p:txBody>
      </p:sp>
      <p:sp>
        <p:nvSpPr>
          <p:cNvPr id="19" name="Shape 16"/>
          <p:cNvSpPr/>
          <p:nvPr/>
        </p:nvSpPr>
        <p:spPr>
          <a:xfrm>
            <a:off x="590550" y="2724150"/>
            <a:ext cx="3678436" cy="371475"/>
          </a:xfrm>
          <a:prstGeom prst="roundRect">
            <a:avLst>
              <a:gd name="adj" fmla="val 28205"/>
            </a:avLst>
          </a:prstGeom>
          <a:solidFill>
            <a:srgbClr val="D4AF37"/>
          </a:solidFill>
          <a:ln/>
          <a:effectLst>
            <a:outerShdw sx="100000" sy="100000" kx="0" ky="0" algn="bl" rotWithShape="0" blurRad="171450" dist="57150" dir="5400000">
              <a:srgbClr val="D4AF37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9673" y="2838450"/>
            <a:ext cx="3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via TCN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4764286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73811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945261" y="1000125"/>
            <a:ext cx="85725" cy="85725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24" name="Text 21"/>
          <p:cNvSpPr/>
          <p:nvPr/>
        </p:nvSpPr>
        <p:spPr>
          <a:xfrm>
            <a:off x="5107186" y="971550"/>
            <a:ext cx="912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7737574" y="971550"/>
            <a:ext cx="12480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✓ verified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9261872" y="828675"/>
            <a:ext cx="4758928" cy="7362825"/>
          </a:xfrm>
          <a:prstGeom prst="roundRect">
            <a:avLst>
              <a:gd name="adj" fmla="val 36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71397" y="1247775"/>
            <a:ext cx="473987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9442847" y="1000125"/>
            <a:ext cx="85725" cy="85725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6"/>
          <p:cNvSpPr/>
          <p:nvPr/>
        </p:nvSpPr>
        <p:spPr>
          <a:xfrm>
            <a:off x="9604772" y="971550"/>
            <a:ext cx="9350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13369677" y="976312"/>
            <a:ext cx="5463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idle —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423797" y="1409700"/>
            <a:ext cx="4435078" cy="1114425"/>
          </a:xfrm>
          <a:prstGeom prst="roundRect">
            <a:avLst>
              <a:gd name="adj" fmla="val 11966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85722" y="1571625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GRAPH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9800630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67466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9718923" y="2238375"/>
            <a:ext cx="525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713" dirty="0"/>
          </a:p>
        </p:txBody>
      </p:sp>
      <p:sp>
        <p:nvSpPr>
          <p:cNvPr id="36" name="Shape 33"/>
          <p:cNvSpPr/>
          <p:nvPr/>
        </p:nvSpPr>
        <p:spPr>
          <a:xfrm>
            <a:off x="10630495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797332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0565309" y="2238375"/>
            <a:ext cx="492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13" dirty="0"/>
          </a:p>
        </p:txBody>
      </p:sp>
      <p:sp>
        <p:nvSpPr>
          <p:cNvPr id="39" name="Shape 36"/>
          <p:cNvSpPr/>
          <p:nvPr/>
        </p:nvSpPr>
        <p:spPr>
          <a:xfrm>
            <a:off x="11460361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627197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11456194" y="2238375"/>
            <a:ext cx="3701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713" dirty="0"/>
          </a:p>
        </p:txBody>
      </p:sp>
      <p:sp>
        <p:nvSpPr>
          <p:cNvPr id="42" name="Shape 39"/>
          <p:cNvSpPr/>
          <p:nvPr/>
        </p:nvSpPr>
        <p:spPr>
          <a:xfrm>
            <a:off x="12290227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2457063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12184707" y="2238375"/>
            <a:ext cx="572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713" dirty="0"/>
          </a:p>
        </p:txBody>
      </p:sp>
      <p:sp>
        <p:nvSpPr>
          <p:cNvPr id="45" name="Shape 42"/>
          <p:cNvSpPr/>
          <p:nvPr/>
        </p:nvSpPr>
        <p:spPr>
          <a:xfrm>
            <a:off x="13120092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3286929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13107591" y="2238375"/>
            <a:ext cx="386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13" dirty="0"/>
          </a:p>
        </p:txBody>
      </p:sp>
      <p:sp>
        <p:nvSpPr>
          <p:cNvPr id="48" name="Shape 45"/>
          <p:cNvSpPr/>
          <p:nvPr/>
        </p:nvSpPr>
        <p:spPr>
          <a:xfrm>
            <a:off x="9423797" y="2657475"/>
            <a:ext cx="1414760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468311" y="2781300"/>
            <a:ext cx="13257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1125" dirty="0"/>
          </a:p>
        </p:txBody>
      </p:sp>
      <p:sp>
        <p:nvSpPr>
          <p:cNvPr id="50" name="Text 47"/>
          <p:cNvSpPr/>
          <p:nvPr/>
        </p:nvSpPr>
        <p:spPr>
          <a:xfrm>
            <a:off x="9468311" y="2981325"/>
            <a:ext cx="1325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Rewards</a:t>
            </a:r>
            <a:endParaRPr lang="en-US" sz="713" dirty="0"/>
          </a:p>
        </p:txBody>
      </p:sp>
      <p:sp>
        <p:nvSpPr>
          <p:cNvPr id="51" name="Shape 48"/>
          <p:cNvSpPr/>
          <p:nvPr/>
        </p:nvSpPr>
        <p:spPr>
          <a:xfrm>
            <a:off x="10933807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978314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R8,500</a:t>
            </a:r>
            <a:endParaRPr lang="en-US" sz="1125" dirty="0"/>
          </a:p>
        </p:txBody>
      </p:sp>
      <p:sp>
        <p:nvSpPr>
          <p:cNvPr id="53" name="Text 50"/>
          <p:cNvSpPr/>
          <p:nvPr/>
        </p:nvSpPr>
        <p:spPr>
          <a:xfrm>
            <a:off x="10978314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Rewards</a:t>
            </a:r>
            <a:endParaRPr lang="en-US" sz="713" dirty="0"/>
          </a:p>
        </p:txBody>
      </p:sp>
      <p:sp>
        <p:nvSpPr>
          <p:cNvPr id="54" name="Shape 51"/>
          <p:cNvSpPr/>
          <p:nvPr/>
        </p:nvSpPr>
        <p:spPr>
          <a:xfrm>
            <a:off x="12443966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2488473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25" dirty="0"/>
          </a:p>
        </p:txBody>
      </p:sp>
      <p:sp>
        <p:nvSpPr>
          <p:cNvPr id="56" name="Text 53"/>
          <p:cNvSpPr/>
          <p:nvPr/>
        </p:nvSpPr>
        <p:spPr>
          <a:xfrm>
            <a:off x="12488473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Connections</a:t>
            </a:r>
            <a:endParaRPr lang="en-US" sz="713" dirty="0"/>
          </a:p>
        </p:txBody>
      </p:sp>
      <p:sp>
        <p:nvSpPr>
          <p:cNvPr id="57" name="Shape 54"/>
          <p:cNvSpPr/>
          <p:nvPr/>
        </p:nvSpPr>
        <p:spPr>
          <a:xfrm>
            <a:off x="9423797" y="3362325"/>
            <a:ext cx="4435078" cy="4667250"/>
          </a:xfrm>
          <a:prstGeom prst="roundRect">
            <a:avLst>
              <a:gd name="adj" fmla="val 3007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585722" y="3505200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8382000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28650"/>
            <a:ext cx="142875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" y="190500"/>
            <a:ext cx="247650" cy="24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23838"/>
            <a:ext cx="37903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Simulation — Live Event Stream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12805172" y="233362"/>
            <a:ext cx="1452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>
                    <a:alpha val="5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950428" y="233362"/>
            <a:ext cx="295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303002" y="152400"/>
            <a:ext cx="717798" cy="323850"/>
          </a:xfrm>
          <a:prstGeom prst="roundRect">
            <a:avLst>
              <a:gd name="adj" fmla="val 29412"/>
            </a:avLst>
          </a:prstGeom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483977" y="247650"/>
            <a:ext cx="4320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6700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6225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7675" y="1000125"/>
            <a:ext cx="85725" cy="85725"/>
          </a:xfrm>
          <a:prstGeom prst="ellipse">
            <a:avLst/>
          </a:prstGeom>
          <a:solidFill>
            <a:srgbClr val="4A7CF0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" y="971550"/>
            <a:ext cx="9952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FEED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428625" y="1409700"/>
            <a:ext cx="4002286" cy="1323975"/>
          </a:xfrm>
          <a:prstGeom prst="roundRect">
            <a:avLst>
              <a:gd name="adj" fmla="val 100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0550" y="1552575"/>
            <a:ext cx="361950" cy="3619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552450" y="15525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47750" y="1590675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47750" y="1733550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· Pretoria East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90550" y="1990725"/>
            <a:ext cx="37979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someone to install artificial grass at my new place. Anyone know a trusted company?"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0550" y="2505075"/>
            <a:ext cx="3797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comments · 2 shares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428625" y="2847975"/>
            <a:ext cx="4002286" cy="1076325"/>
          </a:xfrm>
          <a:prstGeom prst="roundRect">
            <a:avLst>
              <a:gd name="adj" fmla="val 12389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0550" y="3009900"/>
            <a:ext cx="323850" cy="323850"/>
          </a:xfrm>
          <a:prstGeom prst="ellipse">
            <a:avLst/>
          </a:prstGeom>
          <a:gradFill rotWithShape="1">
            <a:gsLst>
              <a:gs pos="0">
                <a:srgbClr val="D4AF37">
                  <a:alpha val="100000"/>
                </a:srgbClr>
              </a:gs>
              <a:gs pos="100000">
                <a:srgbClr val="8A6A1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552450" y="30099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9650" y="3086100"/>
            <a:ext cx="24949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Stiaan </a:t>
            </a:r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 a trusted vendor via </a:t>
            </a:r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590550" y="3429000"/>
            <a:ext cx="3678436" cy="333375"/>
          </a:xfrm>
          <a:prstGeom prst="roundRect">
            <a:avLst>
              <a:gd name="adj" fmla="val 28571"/>
            </a:avLst>
          </a:prstGeom>
          <a:solidFill>
            <a:srgbClr val="060D1C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23900" y="3524250"/>
            <a:ext cx="566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06018" y="3524250"/>
            <a:ext cx="1352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4764286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73811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945261" y="1000125"/>
            <a:ext cx="85725" cy="85725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31" name="Text 28"/>
          <p:cNvSpPr/>
          <p:nvPr/>
        </p:nvSpPr>
        <p:spPr>
          <a:xfrm>
            <a:off x="5107186" y="971550"/>
            <a:ext cx="912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7737574" y="971550"/>
            <a:ext cx="12480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✓ verified</a:t>
            </a:r>
            <a:endParaRPr lang="en-US" sz="825" dirty="0"/>
          </a:p>
        </p:txBody>
      </p:sp>
      <p:sp>
        <p:nvSpPr>
          <p:cNvPr id="33" name="Shape 30"/>
          <p:cNvSpPr/>
          <p:nvPr/>
        </p:nvSpPr>
        <p:spPr>
          <a:xfrm>
            <a:off x="9261872" y="828675"/>
            <a:ext cx="4758928" cy="7362825"/>
          </a:xfrm>
          <a:prstGeom prst="roundRect">
            <a:avLst>
              <a:gd name="adj" fmla="val 36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71397" y="1247775"/>
            <a:ext cx="473987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9442847" y="1000125"/>
            <a:ext cx="85725" cy="85725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6" name="Text 33"/>
          <p:cNvSpPr/>
          <p:nvPr/>
        </p:nvSpPr>
        <p:spPr>
          <a:xfrm>
            <a:off x="9604772" y="971550"/>
            <a:ext cx="9350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12704713" y="976312"/>
            <a:ext cx="121131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9423797" y="1409700"/>
            <a:ext cx="4435078" cy="1114425"/>
          </a:xfrm>
          <a:prstGeom prst="roundRect">
            <a:avLst>
              <a:gd name="adj" fmla="val 11966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85722" y="1571625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GRAPH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9800630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935170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9718923" y="2238375"/>
            <a:ext cx="525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713" dirty="0"/>
          </a:p>
        </p:txBody>
      </p:sp>
      <p:sp>
        <p:nvSpPr>
          <p:cNvPr id="43" name="Shape 40"/>
          <p:cNvSpPr/>
          <p:nvPr/>
        </p:nvSpPr>
        <p:spPr>
          <a:xfrm>
            <a:off x="10630495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97332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45" name="Text 42"/>
          <p:cNvSpPr/>
          <p:nvPr/>
        </p:nvSpPr>
        <p:spPr>
          <a:xfrm>
            <a:off x="10565309" y="2238375"/>
            <a:ext cx="492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13" dirty="0"/>
          </a:p>
        </p:txBody>
      </p:sp>
      <p:sp>
        <p:nvSpPr>
          <p:cNvPr id="46" name="Shape 43"/>
          <p:cNvSpPr/>
          <p:nvPr/>
        </p:nvSpPr>
        <p:spPr>
          <a:xfrm>
            <a:off x="11460361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1627197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11456194" y="2238375"/>
            <a:ext cx="3701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713" dirty="0"/>
          </a:p>
        </p:txBody>
      </p:sp>
      <p:sp>
        <p:nvSpPr>
          <p:cNvPr id="49" name="Shape 46"/>
          <p:cNvSpPr/>
          <p:nvPr/>
        </p:nvSpPr>
        <p:spPr>
          <a:xfrm>
            <a:off x="12290227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457063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51" name="Text 48"/>
          <p:cNvSpPr/>
          <p:nvPr/>
        </p:nvSpPr>
        <p:spPr>
          <a:xfrm>
            <a:off x="12184707" y="2238375"/>
            <a:ext cx="572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713" dirty="0"/>
          </a:p>
        </p:txBody>
      </p:sp>
      <p:sp>
        <p:nvSpPr>
          <p:cNvPr id="52" name="Shape 49"/>
          <p:cNvSpPr/>
          <p:nvPr/>
        </p:nvSpPr>
        <p:spPr>
          <a:xfrm>
            <a:off x="13120092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3286929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54" name="Text 51"/>
          <p:cNvSpPr/>
          <p:nvPr/>
        </p:nvSpPr>
        <p:spPr>
          <a:xfrm>
            <a:off x="13107591" y="2238375"/>
            <a:ext cx="386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13" dirty="0"/>
          </a:p>
        </p:txBody>
      </p:sp>
      <p:sp>
        <p:nvSpPr>
          <p:cNvPr id="55" name="Shape 52"/>
          <p:cNvSpPr/>
          <p:nvPr/>
        </p:nvSpPr>
        <p:spPr>
          <a:xfrm>
            <a:off x="9423797" y="2657475"/>
            <a:ext cx="1414760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468311" y="2781300"/>
            <a:ext cx="13257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R1,250</a:t>
            </a:r>
            <a:endParaRPr lang="en-US" sz="1125" dirty="0"/>
          </a:p>
        </p:txBody>
      </p:sp>
      <p:sp>
        <p:nvSpPr>
          <p:cNvPr id="57" name="Text 54"/>
          <p:cNvSpPr/>
          <p:nvPr/>
        </p:nvSpPr>
        <p:spPr>
          <a:xfrm>
            <a:off x="9468311" y="2981325"/>
            <a:ext cx="1325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Rewards</a:t>
            </a:r>
            <a:endParaRPr lang="en-US" sz="713" dirty="0"/>
          </a:p>
        </p:txBody>
      </p:sp>
      <p:sp>
        <p:nvSpPr>
          <p:cNvPr id="58" name="Shape 55"/>
          <p:cNvSpPr/>
          <p:nvPr/>
        </p:nvSpPr>
        <p:spPr>
          <a:xfrm>
            <a:off x="10933807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978314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R8,500</a:t>
            </a:r>
            <a:endParaRPr lang="en-US" sz="1125" dirty="0"/>
          </a:p>
        </p:txBody>
      </p:sp>
      <p:sp>
        <p:nvSpPr>
          <p:cNvPr id="60" name="Text 57"/>
          <p:cNvSpPr/>
          <p:nvPr/>
        </p:nvSpPr>
        <p:spPr>
          <a:xfrm>
            <a:off x="10978314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Rewards</a:t>
            </a:r>
            <a:endParaRPr lang="en-US" sz="713" dirty="0"/>
          </a:p>
        </p:txBody>
      </p:sp>
      <p:sp>
        <p:nvSpPr>
          <p:cNvPr id="61" name="Shape 58"/>
          <p:cNvSpPr/>
          <p:nvPr/>
        </p:nvSpPr>
        <p:spPr>
          <a:xfrm>
            <a:off x="12443966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2488473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25" dirty="0"/>
          </a:p>
        </p:txBody>
      </p:sp>
      <p:sp>
        <p:nvSpPr>
          <p:cNvPr id="63" name="Text 60"/>
          <p:cNvSpPr/>
          <p:nvPr/>
        </p:nvSpPr>
        <p:spPr>
          <a:xfrm>
            <a:off x="12488473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Connections</a:t>
            </a:r>
            <a:endParaRPr lang="en-US" sz="713" dirty="0"/>
          </a:p>
        </p:txBody>
      </p:sp>
      <p:sp>
        <p:nvSpPr>
          <p:cNvPr id="64" name="Shape 61"/>
          <p:cNvSpPr/>
          <p:nvPr/>
        </p:nvSpPr>
        <p:spPr>
          <a:xfrm>
            <a:off x="9423797" y="3362325"/>
            <a:ext cx="4435078" cy="4667250"/>
          </a:xfrm>
          <a:prstGeom prst="roundRect">
            <a:avLst>
              <a:gd name="adj" fmla="val 3007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585722" y="3505200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9585722" y="4029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9585722" y="3800475"/>
            <a:ext cx="27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02s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9875937" y="3800475"/>
            <a:ext cx="2567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ID generated: TCN-PTA-2026-00192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9585722" y="43338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9585722" y="4105275"/>
            <a:ext cx="2757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00s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9880550" y="4105275"/>
            <a:ext cx="288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opportunity created — Sarah M., Pretoria East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8382000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28650"/>
            <a:ext cx="142875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" y="190500"/>
            <a:ext cx="247650" cy="24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23838"/>
            <a:ext cx="37903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Simulation — Live Event Stream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12805172" y="233362"/>
            <a:ext cx="1452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>
                    <a:alpha val="4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950428" y="233362"/>
            <a:ext cx="295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303002" y="152400"/>
            <a:ext cx="717798" cy="323850"/>
          </a:xfrm>
          <a:prstGeom prst="roundRect">
            <a:avLst>
              <a:gd name="adj" fmla="val 29412"/>
            </a:avLst>
          </a:prstGeom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483977" y="247650"/>
            <a:ext cx="4320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6700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6225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7675" y="1000125"/>
            <a:ext cx="85725" cy="85725"/>
          </a:xfrm>
          <a:prstGeom prst="ellipse">
            <a:avLst/>
          </a:prstGeom>
          <a:solidFill>
            <a:srgbClr val="4A7CF0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" y="971550"/>
            <a:ext cx="9952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FEED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428625" y="1409700"/>
            <a:ext cx="4002286" cy="1323975"/>
          </a:xfrm>
          <a:prstGeom prst="roundRect">
            <a:avLst>
              <a:gd name="adj" fmla="val 100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0550" y="1552575"/>
            <a:ext cx="361950" cy="3619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552450" y="15525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47750" y="1590675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47750" y="1733550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· Pretoria East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90550" y="1990725"/>
            <a:ext cx="37979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someone to install artificial grass at my new place. Anyone know a trusted company?"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0550" y="2505075"/>
            <a:ext cx="3797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comments · 2 shares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428625" y="2847975"/>
            <a:ext cx="4002286" cy="1076325"/>
          </a:xfrm>
          <a:prstGeom prst="roundRect">
            <a:avLst>
              <a:gd name="adj" fmla="val 12389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0550" y="3009900"/>
            <a:ext cx="323850" cy="323850"/>
          </a:xfrm>
          <a:prstGeom prst="ellipse">
            <a:avLst/>
          </a:prstGeom>
          <a:gradFill rotWithShape="1">
            <a:gsLst>
              <a:gs pos="0">
                <a:srgbClr val="D4AF37">
                  <a:alpha val="100000"/>
                </a:srgbClr>
              </a:gs>
              <a:gs pos="100000">
                <a:srgbClr val="8A6A1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552450" y="30099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9650" y="3086100"/>
            <a:ext cx="24949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Stiaan </a:t>
            </a:r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 a trusted vendor via </a:t>
            </a:r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590550" y="3429000"/>
            <a:ext cx="3678436" cy="333375"/>
          </a:xfrm>
          <a:prstGeom prst="roundRect">
            <a:avLst>
              <a:gd name="adj" fmla="val 28571"/>
            </a:avLst>
          </a:prstGeom>
          <a:solidFill>
            <a:srgbClr val="060D1C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23900" y="3524250"/>
            <a:ext cx="566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06018" y="3524250"/>
            <a:ext cx="1352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485775" y="4076700"/>
            <a:ext cx="285750" cy="2857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9" name="Text 26"/>
          <p:cNvSpPr/>
          <p:nvPr/>
        </p:nvSpPr>
        <p:spPr>
          <a:xfrm>
            <a:off x="447675" y="407670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866775" y="4076700"/>
            <a:ext cx="3037880" cy="361950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00125" y="4171950"/>
            <a:ext cx="2862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Stiaan! Just accepted the connection 🙌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4764286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73811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945261" y="1000125"/>
            <a:ext cx="85725" cy="85725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35" name="Text 32"/>
          <p:cNvSpPr/>
          <p:nvPr/>
        </p:nvSpPr>
        <p:spPr>
          <a:xfrm>
            <a:off x="5107186" y="971550"/>
            <a:ext cx="912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7737574" y="971550"/>
            <a:ext cx="12480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✓ verified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4926211" y="1409700"/>
            <a:ext cx="3708648" cy="735211"/>
          </a:xfrm>
          <a:prstGeom prst="roundRect">
            <a:avLst>
              <a:gd name="adj" fmla="val 1813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059561" y="1514475"/>
            <a:ext cx="37861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059561" y="1681163"/>
            <a:ext cx="3503204" cy="3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Sarah 👋 Stiaan has connected you with a trusted vendor for artificial grass installation. Accept this connection?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6908304" y="2240161"/>
            <a:ext cx="2020193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041654" y="2344936"/>
            <a:ext cx="19288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041654" y="2511623"/>
            <a:ext cx="19288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accept the connection ✓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9261872" y="828675"/>
            <a:ext cx="4758928" cy="7362825"/>
          </a:xfrm>
          <a:prstGeom prst="roundRect">
            <a:avLst>
              <a:gd name="adj" fmla="val 36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271397" y="1247775"/>
            <a:ext cx="473987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9442847" y="1000125"/>
            <a:ext cx="85725" cy="85725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6" name="Text 43"/>
          <p:cNvSpPr/>
          <p:nvPr/>
        </p:nvSpPr>
        <p:spPr>
          <a:xfrm>
            <a:off x="9604772" y="971550"/>
            <a:ext cx="9350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12704713" y="976312"/>
            <a:ext cx="121131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423797" y="1409700"/>
            <a:ext cx="4435078" cy="1114425"/>
          </a:xfrm>
          <a:prstGeom prst="roundRect">
            <a:avLst>
              <a:gd name="adj" fmla="val 11966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585722" y="1571625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GRAPH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9800630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935170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9718923" y="2238375"/>
            <a:ext cx="525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713" dirty="0"/>
          </a:p>
        </p:txBody>
      </p:sp>
      <p:sp>
        <p:nvSpPr>
          <p:cNvPr id="53" name="Shape 50"/>
          <p:cNvSpPr/>
          <p:nvPr/>
        </p:nvSpPr>
        <p:spPr>
          <a:xfrm>
            <a:off x="10630495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765036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55" name="Text 52"/>
          <p:cNvSpPr/>
          <p:nvPr/>
        </p:nvSpPr>
        <p:spPr>
          <a:xfrm>
            <a:off x="10565309" y="2238375"/>
            <a:ext cx="492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13" dirty="0"/>
          </a:p>
        </p:txBody>
      </p:sp>
      <p:sp>
        <p:nvSpPr>
          <p:cNvPr id="56" name="Shape 53"/>
          <p:cNvSpPr/>
          <p:nvPr/>
        </p:nvSpPr>
        <p:spPr>
          <a:xfrm>
            <a:off x="11460361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627197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58" name="Text 55"/>
          <p:cNvSpPr/>
          <p:nvPr/>
        </p:nvSpPr>
        <p:spPr>
          <a:xfrm>
            <a:off x="11456194" y="2238375"/>
            <a:ext cx="3701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713" dirty="0"/>
          </a:p>
        </p:txBody>
      </p:sp>
      <p:sp>
        <p:nvSpPr>
          <p:cNvPr id="59" name="Shape 56"/>
          <p:cNvSpPr/>
          <p:nvPr/>
        </p:nvSpPr>
        <p:spPr>
          <a:xfrm>
            <a:off x="12290227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457063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61" name="Text 58"/>
          <p:cNvSpPr/>
          <p:nvPr/>
        </p:nvSpPr>
        <p:spPr>
          <a:xfrm>
            <a:off x="12184707" y="2238375"/>
            <a:ext cx="572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713" dirty="0"/>
          </a:p>
        </p:txBody>
      </p:sp>
      <p:sp>
        <p:nvSpPr>
          <p:cNvPr id="62" name="Shape 59"/>
          <p:cNvSpPr/>
          <p:nvPr/>
        </p:nvSpPr>
        <p:spPr>
          <a:xfrm>
            <a:off x="13120092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286929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64" name="Text 61"/>
          <p:cNvSpPr/>
          <p:nvPr/>
        </p:nvSpPr>
        <p:spPr>
          <a:xfrm>
            <a:off x="13107591" y="2238375"/>
            <a:ext cx="386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13" dirty="0"/>
          </a:p>
        </p:txBody>
      </p:sp>
      <p:sp>
        <p:nvSpPr>
          <p:cNvPr id="65" name="Shape 62"/>
          <p:cNvSpPr/>
          <p:nvPr/>
        </p:nvSpPr>
        <p:spPr>
          <a:xfrm>
            <a:off x="9423797" y="2657475"/>
            <a:ext cx="1414760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468311" y="2781300"/>
            <a:ext cx="13257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R1,250</a:t>
            </a:r>
            <a:endParaRPr lang="en-US" sz="1125" dirty="0"/>
          </a:p>
        </p:txBody>
      </p:sp>
      <p:sp>
        <p:nvSpPr>
          <p:cNvPr id="67" name="Text 64"/>
          <p:cNvSpPr/>
          <p:nvPr/>
        </p:nvSpPr>
        <p:spPr>
          <a:xfrm>
            <a:off x="9468311" y="2981325"/>
            <a:ext cx="1325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Rewards</a:t>
            </a:r>
            <a:endParaRPr lang="en-US" sz="713" dirty="0"/>
          </a:p>
        </p:txBody>
      </p:sp>
      <p:sp>
        <p:nvSpPr>
          <p:cNvPr id="68" name="Shape 65"/>
          <p:cNvSpPr/>
          <p:nvPr/>
        </p:nvSpPr>
        <p:spPr>
          <a:xfrm>
            <a:off x="10933807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978314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R8,500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0978314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Rewards</a:t>
            </a:r>
            <a:endParaRPr lang="en-US" sz="713" dirty="0"/>
          </a:p>
        </p:txBody>
      </p:sp>
      <p:sp>
        <p:nvSpPr>
          <p:cNvPr id="71" name="Shape 68"/>
          <p:cNvSpPr/>
          <p:nvPr/>
        </p:nvSpPr>
        <p:spPr>
          <a:xfrm>
            <a:off x="12443966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2488473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12488473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Connections</a:t>
            </a:r>
            <a:endParaRPr lang="en-US" sz="713" dirty="0"/>
          </a:p>
        </p:txBody>
      </p:sp>
      <p:sp>
        <p:nvSpPr>
          <p:cNvPr id="74" name="Shape 71"/>
          <p:cNvSpPr/>
          <p:nvPr/>
        </p:nvSpPr>
        <p:spPr>
          <a:xfrm>
            <a:off x="9423797" y="3362325"/>
            <a:ext cx="4435078" cy="4667250"/>
          </a:xfrm>
          <a:prstGeom prst="roundRect">
            <a:avLst>
              <a:gd name="adj" fmla="val 3007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585722" y="3505200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9585722" y="4029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9585722" y="3800475"/>
            <a:ext cx="2769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06s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9881741" y="3800475"/>
            <a:ext cx="18383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accepted connection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9585722" y="43338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9585722" y="4105275"/>
            <a:ext cx="27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02s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9875937" y="4105275"/>
            <a:ext cx="2567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ID generated: TCN-PTA-2026-00192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9585722" y="46386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3" name="Text 80"/>
          <p:cNvSpPr/>
          <p:nvPr/>
        </p:nvSpPr>
        <p:spPr>
          <a:xfrm>
            <a:off x="9585722" y="4410075"/>
            <a:ext cx="2757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00s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9880550" y="4410075"/>
            <a:ext cx="288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opportunity created — Sarah M., Pretoria East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8382000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28650"/>
            <a:ext cx="142875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" y="190500"/>
            <a:ext cx="247650" cy="24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23838"/>
            <a:ext cx="37903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Simulation — Live Event Stream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12805172" y="233362"/>
            <a:ext cx="1452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950428" y="233362"/>
            <a:ext cx="295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303002" y="152400"/>
            <a:ext cx="717798" cy="323850"/>
          </a:xfrm>
          <a:prstGeom prst="roundRect">
            <a:avLst>
              <a:gd name="adj" fmla="val 29412"/>
            </a:avLst>
          </a:prstGeom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483977" y="247650"/>
            <a:ext cx="4320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6700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6225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7675" y="1000125"/>
            <a:ext cx="85725" cy="85725"/>
          </a:xfrm>
          <a:prstGeom prst="ellipse">
            <a:avLst/>
          </a:prstGeom>
          <a:solidFill>
            <a:srgbClr val="4A7CF0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" y="971550"/>
            <a:ext cx="9952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FEED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428625" y="1409700"/>
            <a:ext cx="4002286" cy="1323975"/>
          </a:xfrm>
          <a:prstGeom prst="roundRect">
            <a:avLst>
              <a:gd name="adj" fmla="val 100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0550" y="1552575"/>
            <a:ext cx="361950" cy="3619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552450" y="15525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47750" y="1590675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47750" y="1733550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· Pretoria East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90550" y="1990725"/>
            <a:ext cx="37979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someone to install artificial grass at my new place. Anyone know a trusted company?"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0550" y="2505075"/>
            <a:ext cx="3797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comments · 2 shares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428625" y="2847975"/>
            <a:ext cx="4002286" cy="1076325"/>
          </a:xfrm>
          <a:prstGeom prst="roundRect">
            <a:avLst>
              <a:gd name="adj" fmla="val 12389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0550" y="3009900"/>
            <a:ext cx="323850" cy="323850"/>
          </a:xfrm>
          <a:prstGeom prst="ellipse">
            <a:avLst/>
          </a:prstGeom>
          <a:gradFill rotWithShape="1">
            <a:gsLst>
              <a:gs pos="0">
                <a:srgbClr val="D4AF37">
                  <a:alpha val="100000"/>
                </a:srgbClr>
              </a:gs>
              <a:gs pos="100000">
                <a:srgbClr val="8A6A1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552450" y="30099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9650" y="3086100"/>
            <a:ext cx="24949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Stiaan </a:t>
            </a:r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 a trusted vendor via </a:t>
            </a:r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590550" y="3429000"/>
            <a:ext cx="3678436" cy="333375"/>
          </a:xfrm>
          <a:prstGeom prst="roundRect">
            <a:avLst>
              <a:gd name="adj" fmla="val 28571"/>
            </a:avLst>
          </a:prstGeom>
          <a:solidFill>
            <a:srgbClr val="060D1C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23900" y="3524250"/>
            <a:ext cx="566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06018" y="3524250"/>
            <a:ext cx="1352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485775" y="4076700"/>
            <a:ext cx="285750" cy="2857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9" name="Text 26"/>
          <p:cNvSpPr/>
          <p:nvPr/>
        </p:nvSpPr>
        <p:spPr>
          <a:xfrm>
            <a:off x="447675" y="407670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866775" y="4076700"/>
            <a:ext cx="3037880" cy="361950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00125" y="4171950"/>
            <a:ext cx="2862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Stiaan! Just accepted the connection 🙌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4764286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73811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945261" y="1000125"/>
            <a:ext cx="85725" cy="85725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35" name="Text 32"/>
          <p:cNvSpPr/>
          <p:nvPr/>
        </p:nvSpPr>
        <p:spPr>
          <a:xfrm>
            <a:off x="5107186" y="971550"/>
            <a:ext cx="912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7737574" y="971550"/>
            <a:ext cx="12480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✓ verified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4926211" y="1409700"/>
            <a:ext cx="3708648" cy="735211"/>
          </a:xfrm>
          <a:prstGeom prst="roundRect">
            <a:avLst>
              <a:gd name="adj" fmla="val 1813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059561" y="1514475"/>
            <a:ext cx="37861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059561" y="1681163"/>
            <a:ext cx="3503204" cy="3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Sarah 👋 Stiaan has connected you with a trusted vendor for artificial grass installation. Accept this connection?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6908304" y="2240161"/>
            <a:ext cx="2020193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041654" y="2344936"/>
            <a:ext cx="19288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041654" y="2511623"/>
            <a:ext cx="19288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accept the connection ✓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9261872" y="828675"/>
            <a:ext cx="4758928" cy="7362825"/>
          </a:xfrm>
          <a:prstGeom prst="roundRect">
            <a:avLst>
              <a:gd name="adj" fmla="val 36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271397" y="1247775"/>
            <a:ext cx="473987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9442847" y="1000125"/>
            <a:ext cx="85725" cy="85725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6" name="Text 43"/>
          <p:cNvSpPr/>
          <p:nvPr/>
        </p:nvSpPr>
        <p:spPr>
          <a:xfrm>
            <a:off x="9604772" y="971550"/>
            <a:ext cx="9350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12704713" y="976312"/>
            <a:ext cx="121131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423797" y="1409700"/>
            <a:ext cx="4435078" cy="1114425"/>
          </a:xfrm>
          <a:prstGeom prst="roundRect">
            <a:avLst>
              <a:gd name="adj" fmla="val 11966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585722" y="1571625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GRAPH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9800630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935170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9718923" y="2238375"/>
            <a:ext cx="525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713" dirty="0"/>
          </a:p>
        </p:txBody>
      </p:sp>
      <p:sp>
        <p:nvSpPr>
          <p:cNvPr id="53" name="Shape 50"/>
          <p:cNvSpPr/>
          <p:nvPr/>
        </p:nvSpPr>
        <p:spPr>
          <a:xfrm>
            <a:off x="10630495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765036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55" name="Text 52"/>
          <p:cNvSpPr/>
          <p:nvPr/>
        </p:nvSpPr>
        <p:spPr>
          <a:xfrm>
            <a:off x="10565309" y="2238375"/>
            <a:ext cx="492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13" dirty="0"/>
          </a:p>
        </p:txBody>
      </p:sp>
      <p:sp>
        <p:nvSpPr>
          <p:cNvPr id="56" name="Shape 53"/>
          <p:cNvSpPr/>
          <p:nvPr/>
        </p:nvSpPr>
        <p:spPr>
          <a:xfrm>
            <a:off x="11460361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594902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58" name="Text 55"/>
          <p:cNvSpPr/>
          <p:nvPr/>
        </p:nvSpPr>
        <p:spPr>
          <a:xfrm>
            <a:off x="11456194" y="2238375"/>
            <a:ext cx="3701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713" dirty="0"/>
          </a:p>
        </p:txBody>
      </p:sp>
      <p:sp>
        <p:nvSpPr>
          <p:cNvPr id="59" name="Shape 56"/>
          <p:cNvSpPr/>
          <p:nvPr/>
        </p:nvSpPr>
        <p:spPr>
          <a:xfrm>
            <a:off x="12290227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457063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61" name="Text 58"/>
          <p:cNvSpPr/>
          <p:nvPr/>
        </p:nvSpPr>
        <p:spPr>
          <a:xfrm>
            <a:off x="12184707" y="2238375"/>
            <a:ext cx="572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713" dirty="0"/>
          </a:p>
        </p:txBody>
      </p:sp>
      <p:sp>
        <p:nvSpPr>
          <p:cNvPr id="62" name="Shape 59"/>
          <p:cNvSpPr/>
          <p:nvPr/>
        </p:nvSpPr>
        <p:spPr>
          <a:xfrm>
            <a:off x="13120092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286929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64" name="Text 61"/>
          <p:cNvSpPr/>
          <p:nvPr/>
        </p:nvSpPr>
        <p:spPr>
          <a:xfrm>
            <a:off x="13107591" y="2238375"/>
            <a:ext cx="386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13" dirty="0"/>
          </a:p>
        </p:txBody>
      </p:sp>
      <p:sp>
        <p:nvSpPr>
          <p:cNvPr id="65" name="Shape 62"/>
          <p:cNvSpPr/>
          <p:nvPr/>
        </p:nvSpPr>
        <p:spPr>
          <a:xfrm>
            <a:off x="9423797" y="2657475"/>
            <a:ext cx="1414760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468311" y="2781300"/>
            <a:ext cx="13257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R1,250</a:t>
            </a:r>
            <a:endParaRPr lang="en-US" sz="1125" dirty="0"/>
          </a:p>
        </p:txBody>
      </p:sp>
      <p:sp>
        <p:nvSpPr>
          <p:cNvPr id="67" name="Text 64"/>
          <p:cNvSpPr/>
          <p:nvPr/>
        </p:nvSpPr>
        <p:spPr>
          <a:xfrm>
            <a:off x="9468311" y="2981325"/>
            <a:ext cx="1325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Rewards</a:t>
            </a:r>
            <a:endParaRPr lang="en-US" sz="713" dirty="0"/>
          </a:p>
        </p:txBody>
      </p:sp>
      <p:sp>
        <p:nvSpPr>
          <p:cNvPr id="68" name="Shape 65"/>
          <p:cNvSpPr/>
          <p:nvPr/>
        </p:nvSpPr>
        <p:spPr>
          <a:xfrm>
            <a:off x="10933807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978314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R8,500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0978314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Rewards</a:t>
            </a:r>
            <a:endParaRPr lang="en-US" sz="713" dirty="0"/>
          </a:p>
        </p:txBody>
      </p:sp>
      <p:sp>
        <p:nvSpPr>
          <p:cNvPr id="71" name="Shape 68"/>
          <p:cNvSpPr/>
          <p:nvPr/>
        </p:nvSpPr>
        <p:spPr>
          <a:xfrm>
            <a:off x="12443966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2488473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12488473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Connections</a:t>
            </a:r>
            <a:endParaRPr lang="en-US" sz="713" dirty="0"/>
          </a:p>
        </p:txBody>
      </p:sp>
      <p:sp>
        <p:nvSpPr>
          <p:cNvPr id="74" name="Shape 71"/>
          <p:cNvSpPr/>
          <p:nvPr/>
        </p:nvSpPr>
        <p:spPr>
          <a:xfrm>
            <a:off x="9423797" y="3362325"/>
            <a:ext cx="4435078" cy="4667250"/>
          </a:xfrm>
          <a:prstGeom prst="roundRect">
            <a:avLst>
              <a:gd name="adj" fmla="val 3007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585722" y="3505200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9585722" y="4029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9585722" y="3800475"/>
            <a:ext cx="3202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010s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9925050" y="3800475"/>
            <a:ext cx="24407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 matched — verified vendor, 4.9★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9585722" y="43338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9585722" y="4105275"/>
            <a:ext cx="272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08s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9877127" y="4105275"/>
            <a:ext cx="24019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matching: category + location + rating…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9585722" y="46386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3" name="Text 80"/>
          <p:cNvSpPr/>
          <p:nvPr/>
        </p:nvSpPr>
        <p:spPr>
          <a:xfrm>
            <a:off x="9585722" y="4410075"/>
            <a:ext cx="2769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06s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9881741" y="4410075"/>
            <a:ext cx="18383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accepted connection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9585722" y="49434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6" name="Text 83"/>
          <p:cNvSpPr/>
          <p:nvPr/>
        </p:nvSpPr>
        <p:spPr>
          <a:xfrm>
            <a:off x="9585722" y="4714875"/>
            <a:ext cx="27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02s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9875937" y="4714875"/>
            <a:ext cx="2567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ID generated: TCN-PTA-2026-00192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9585722" y="52482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9585722" y="5019675"/>
            <a:ext cx="2757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00s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9880550" y="5019675"/>
            <a:ext cx="288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opportunity created — Sarah M., Pretoria East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8382000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28650"/>
            <a:ext cx="142875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" y="190500"/>
            <a:ext cx="247650" cy="24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23838"/>
            <a:ext cx="37903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Simulation — Live Event Stream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12805172" y="233362"/>
            <a:ext cx="1452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950428" y="233362"/>
            <a:ext cx="295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303002" y="152400"/>
            <a:ext cx="717798" cy="323850"/>
          </a:xfrm>
          <a:prstGeom prst="roundRect">
            <a:avLst>
              <a:gd name="adj" fmla="val 29412"/>
            </a:avLst>
          </a:prstGeom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483977" y="247650"/>
            <a:ext cx="4320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6700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6225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7675" y="1000125"/>
            <a:ext cx="85725" cy="85725"/>
          </a:xfrm>
          <a:prstGeom prst="ellipse">
            <a:avLst/>
          </a:prstGeom>
          <a:solidFill>
            <a:srgbClr val="4A7CF0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" y="971550"/>
            <a:ext cx="9952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FEED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428625" y="1409700"/>
            <a:ext cx="4002286" cy="1323975"/>
          </a:xfrm>
          <a:prstGeom prst="roundRect">
            <a:avLst>
              <a:gd name="adj" fmla="val 100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0550" y="1552575"/>
            <a:ext cx="361950" cy="3619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552450" y="15525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47750" y="1590675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47750" y="1733550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· Pretoria East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90550" y="1990725"/>
            <a:ext cx="37979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someone to install artificial grass at my new place. Anyone know a trusted company?"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0550" y="2505075"/>
            <a:ext cx="3797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comments · 2 shares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428625" y="2847975"/>
            <a:ext cx="4002286" cy="1076325"/>
          </a:xfrm>
          <a:prstGeom prst="roundRect">
            <a:avLst>
              <a:gd name="adj" fmla="val 12389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0550" y="3009900"/>
            <a:ext cx="323850" cy="323850"/>
          </a:xfrm>
          <a:prstGeom prst="ellipse">
            <a:avLst/>
          </a:prstGeom>
          <a:gradFill rotWithShape="1">
            <a:gsLst>
              <a:gs pos="0">
                <a:srgbClr val="D4AF37">
                  <a:alpha val="100000"/>
                </a:srgbClr>
              </a:gs>
              <a:gs pos="100000">
                <a:srgbClr val="8A6A1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552450" y="30099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9650" y="3086100"/>
            <a:ext cx="24949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Stiaan </a:t>
            </a:r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 a trusted vendor via </a:t>
            </a:r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590550" y="3429000"/>
            <a:ext cx="3678436" cy="333375"/>
          </a:xfrm>
          <a:prstGeom prst="roundRect">
            <a:avLst>
              <a:gd name="adj" fmla="val 28571"/>
            </a:avLst>
          </a:prstGeom>
          <a:solidFill>
            <a:srgbClr val="060D1C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23900" y="3524250"/>
            <a:ext cx="566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06018" y="3524250"/>
            <a:ext cx="1352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485775" y="4076700"/>
            <a:ext cx="285750" cy="2857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9" name="Text 26"/>
          <p:cNvSpPr/>
          <p:nvPr/>
        </p:nvSpPr>
        <p:spPr>
          <a:xfrm>
            <a:off x="447675" y="407670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866775" y="4076700"/>
            <a:ext cx="3037880" cy="361950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00125" y="4171950"/>
            <a:ext cx="2862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Stiaan! Just accepted the connection 🙌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4764286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73811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945261" y="1000125"/>
            <a:ext cx="85725" cy="85725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35" name="Text 32"/>
          <p:cNvSpPr/>
          <p:nvPr/>
        </p:nvSpPr>
        <p:spPr>
          <a:xfrm>
            <a:off x="5107186" y="971550"/>
            <a:ext cx="912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7737574" y="971550"/>
            <a:ext cx="12480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✓ verified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4926211" y="1409700"/>
            <a:ext cx="3708648" cy="735211"/>
          </a:xfrm>
          <a:prstGeom prst="roundRect">
            <a:avLst>
              <a:gd name="adj" fmla="val 1813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059561" y="1514475"/>
            <a:ext cx="37861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059561" y="1681163"/>
            <a:ext cx="3503204" cy="3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Sarah 👋 Stiaan has connected you with a trusted vendor for artificial grass installation. Accept this connection?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6908304" y="2240161"/>
            <a:ext cx="2020193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041654" y="2344936"/>
            <a:ext cx="19288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041654" y="2511623"/>
            <a:ext cx="19288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accept the connection ✓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4926211" y="2891135"/>
            <a:ext cx="3708648" cy="735211"/>
          </a:xfrm>
          <a:prstGeom prst="roundRect">
            <a:avLst>
              <a:gd name="adj" fmla="val 1813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5059561" y="2995910"/>
            <a:ext cx="37861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→ PRIMETURF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059561" y="3162598"/>
            <a:ext cx="3541834" cy="3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TCN opportunity: Artificial Grass Installation — Sarah M., Pretoria East. Connected by Stiaan.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6082605" y="3721596"/>
            <a:ext cx="2845891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6215955" y="3826371"/>
            <a:ext cx="283711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215955" y="3993059"/>
            <a:ext cx="28371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accepted. We will contact Sarah today ✓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9261872" y="828675"/>
            <a:ext cx="4758928" cy="7362825"/>
          </a:xfrm>
          <a:prstGeom prst="roundRect">
            <a:avLst>
              <a:gd name="adj" fmla="val 36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271397" y="1247775"/>
            <a:ext cx="473987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9442847" y="1000125"/>
            <a:ext cx="85725" cy="85725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2" name="Text 49"/>
          <p:cNvSpPr/>
          <p:nvPr/>
        </p:nvSpPr>
        <p:spPr>
          <a:xfrm>
            <a:off x="9604772" y="971550"/>
            <a:ext cx="9350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975" dirty="0"/>
          </a:p>
        </p:txBody>
      </p:sp>
      <p:sp>
        <p:nvSpPr>
          <p:cNvPr id="53" name="Text 50"/>
          <p:cNvSpPr/>
          <p:nvPr/>
        </p:nvSpPr>
        <p:spPr>
          <a:xfrm>
            <a:off x="12704713" y="976312"/>
            <a:ext cx="121131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423797" y="1409700"/>
            <a:ext cx="4435078" cy="1114425"/>
          </a:xfrm>
          <a:prstGeom prst="roundRect">
            <a:avLst>
              <a:gd name="adj" fmla="val 11966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585722" y="1571625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GRAPH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9800630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935170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58" name="Text 55"/>
          <p:cNvSpPr/>
          <p:nvPr/>
        </p:nvSpPr>
        <p:spPr>
          <a:xfrm>
            <a:off x="9718923" y="2238375"/>
            <a:ext cx="525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713" dirty="0"/>
          </a:p>
        </p:txBody>
      </p:sp>
      <p:sp>
        <p:nvSpPr>
          <p:cNvPr id="59" name="Shape 56"/>
          <p:cNvSpPr/>
          <p:nvPr/>
        </p:nvSpPr>
        <p:spPr>
          <a:xfrm>
            <a:off x="10630495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65036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61" name="Text 58"/>
          <p:cNvSpPr/>
          <p:nvPr/>
        </p:nvSpPr>
        <p:spPr>
          <a:xfrm>
            <a:off x="10565309" y="2238375"/>
            <a:ext cx="492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13" dirty="0"/>
          </a:p>
        </p:txBody>
      </p:sp>
      <p:sp>
        <p:nvSpPr>
          <p:cNvPr id="62" name="Shape 59"/>
          <p:cNvSpPr/>
          <p:nvPr/>
        </p:nvSpPr>
        <p:spPr>
          <a:xfrm>
            <a:off x="11460361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1594902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64" name="Text 61"/>
          <p:cNvSpPr/>
          <p:nvPr/>
        </p:nvSpPr>
        <p:spPr>
          <a:xfrm>
            <a:off x="11456194" y="2238375"/>
            <a:ext cx="3701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713" dirty="0"/>
          </a:p>
        </p:txBody>
      </p:sp>
      <p:sp>
        <p:nvSpPr>
          <p:cNvPr id="65" name="Shape 62"/>
          <p:cNvSpPr/>
          <p:nvPr/>
        </p:nvSpPr>
        <p:spPr>
          <a:xfrm>
            <a:off x="12290227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2457063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67" name="Text 64"/>
          <p:cNvSpPr/>
          <p:nvPr/>
        </p:nvSpPr>
        <p:spPr>
          <a:xfrm>
            <a:off x="12184707" y="2238375"/>
            <a:ext cx="572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713" dirty="0"/>
          </a:p>
        </p:txBody>
      </p:sp>
      <p:sp>
        <p:nvSpPr>
          <p:cNvPr id="68" name="Shape 65"/>
          <p:cNvSpPr/>
          <p:nvPr/>
        </p:nvSpPr>
        <p:spPr>
          <a:xfrm>
            <a:off x="13120092" y="1819275"/>
            <a:ext cx="361950" cy="361950"/>
          </a:xfrm>
          <a:prstGeom prst="ellipse">
            <a:avLst/>
          </a:prstGeom>
          <a:ln w="19050">
            <a:solidFill>
              <a:srgbClr val="F7F5EF">
                <a:alpha val="15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286929" y="1914525"/>
            <a:ext cx="114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70" name="Text 67"/>
          <p:cNvSpPr/>
          <p:nvPr/>
        </p:nvSpPr>
        <p:spPr>
          <a:xfrm>
            <a:off x="13107591" y="2238375"/>
            <a:ext cx="386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13" dirty="0"/>
          </a:p>
        </p:txBody>
      </p:sp>
      <p:sp>
        <p:nvSpPr>
          <p:cNvPr id="71" name="Shape 68"/>
          <p:cNvSpPr/>
          <p:nvPr/>
        </p:nvSpPr>
        <p:spPr>
          <a:xfrm>
            <a:off x="9423797" y="2657475"/>
            <a:ext cx="1414760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468311" y="2781300"/>
            <a:ext cx="13257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R1,250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9468311" y="2981325"/>
            <a:ext cx="1325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Rewards</a:t>
            </a:r>
            <a:endParaRPr lang="en-US" sz="713" dirty="0"/>
          </a:p>
        </p:txBody>
      </p:sp>
      <p:sp>
        <p:nvSpPr>
          <p:cNvPr id="74" name="Shape 71"/>
          <p:cNvSpPr/>
          <p:nvPr/>
        </p:nvSpPr>
        <p:spPr>
          <a:xfrm>
            <a:off x="10933807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978314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R8,500</a:t>
            </a:r>
            <a:endParaRPr lang="en-US" sz="1125" dirty="0"/>
          </a:p>
        </p:txBody>
      </p:sp>
      <p:sp>
        <p:nvSpPr>
          <p:cNvPr id="76" name="Text 73"/>
          <p:cNvSpPr/>
          <p:nvPr/>
        </p:nvSpPr>
        <p:spPr>
          <a:xfrm>
            <a:off x="10978314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Rewards</a:t>
            </a:r>
            <a:endParaRPr lang="en-US" sz="713" dirty="0"/>
          </a:p>
        </p:txBody>
      </p:sp>
      <p:sp>
        <p:nvSpPr>
          <p:cNvPr id="77" name="Shape 74"/>
          <p:cNvSpPr/>
          <p:nvPr/>
        </p:nvSpPr>
        <p:spPr>
          <a:xfrm>
            <a:off x="12443966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2488473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25" dirty="0"/>
          </a:p>
        </p:txBody>
      </p:sp>
      <p:sp>
        <p:nvSpPr>
          <p:cNvPr id="79" name="Text 76"/>
          <p:cNvSpPr/>
          <p:nvPr/>
        </p:nvSpPr>
        <p:spPr>
          <a:xfrm>
            <a:off x="12488473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Connections</a:t>
            </a:r>
            <a:endParaRPr lang="en-US" sz="713" dirty="0"/>
          </a:p>
        </p:txBody>
      </p:sp>
      <p:sp>
        <p:nvSpPr>
          <p:cNvPr id="80" name="Shape 77"/>
          <p:cNvSpPr/>
          <p:nvPr/>
        </p:nvSpPr>
        <p:spPr>
          <a:xfrm>
            <a:off x="9423797" y="3362325"/>
            <a:ext cx="4435078" cy="4667250"/>
          </a:xfrm>
          <a:prstGeom prst="roundRect">
            <a:avLst>
              <a:gd name="adj" fmla="val 3007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585722" y="3505200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750" dirty="0"/>
          </a:p>
        </p:txBody>
      </p:sp>
      <p:sp>
        <p:nvSpPr>
          <p:cNvPr id="82" name="Shape 79"/>
          <p:cNvSpPr/>
          <p:nvPr/>
        </p:nvSpPr>
        <p:spPr>
          <a:xfrm>
            <a:off x="9585722" y="4029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3" name="Text 80"/>
          <p:cNvSpPr/>
          <p:nvPr/>
        </p:nvSpPr>
        <p:spPr>
          <a:xfrm>
            <a:off x="9585722" y="3800475"/>
            <a:ext cx="317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014s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9922222" y="3800475"/>
            <a:ext cx="2545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 lead — pipeline: Contacted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9585722" y="43338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6" name="Text 83"/>
          <p:cNvSpPr/>
          <p:nvPr/>
        </p:nvSpPr>
        <p:spPr>
          <a:xfrm>
            <a:off x="9585722" y="4105275"/>
            <a:ext cx="3202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010s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9925050" y="4105275"/>
            <a:ext cx="24407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 matched — verified vendor, 4.9★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9585722" y="46386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9585722" y="4410075"/>
            <a:ext cx="272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08s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9877127" y="4410075"/>
            <a:ext cx="24019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matching: category + location + rating…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9585722" y="49434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2" name="Text 89"/>
          <p:cNvSpPr/>
          <p:nvPr/>
        </p:nvSpPr>
        <p:spPr>
          <a:xfrm>
            <a:off x="9585722" y="4714875"/>
            <a:ext cx="2769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06s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9881741" y="4714875"/>
            <a:ext cx="18383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accepted connection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9585722" y="52482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5" name="Text 92"/>
          <p:cNvSpPr/>
          <p:nvPr/>
        </p:nvSpPr>
        <p:spPr>
          <a:xfrm>
            <a:off x="9585722" y="5019675"/>
            <a:ext cx="27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02s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9875937" y="5019675"/>
            <a:ext cx="2567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ID generated: TCN-PTA-2026-00192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9585722" y="5553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8" name="Text 95"/>
          <p:cNvSpPr/>
          <p:nvPr/>
        </p:nvSpPr>
        <p:spPr>
          <a:xfrm>
            <a:off x="9585722" y="5324475"/>
            <a:ext cx="2757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00s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9880550" y="5324475"/>
            <a:ext cx="288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opportunity created — Sarah M., Pretoria East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8382000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28650"/>
            <a:ext cx="142875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" y="190500"/>
            <a:ext cx="247650" cy="24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23838"/>
            <a:ext cx="37903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Simulation — Live Event Stream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12805172" y="233362"/>
            <a:ext cx="1452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950428" y="233362"/>
            <a:ext cx="295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303002" y="152400"/>
            <a:ext cx="717798" cy="323850"/>
          </a:xfrm>
          <a:prstGeom prst="roundRect">
            <a:avLst>
              <a:gd name="adj" fmla="val 29412"/>
            </a:avLst>
          </a:prstGeom>
          <a:ln w="9525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483977" y="247650"/>
            <a:ext cx="4320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6700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6225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7675" y="1000125"/>
            <a:ext cx="85725" cy="85725"/>
          </a:xfrm>
          <a:prstGeom prst="ellipse">
            <a:avLst/>
          </a:prstGeom>
          <a:solidFill>
            <a:srgbClr val="4A7CF0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" y="971550"/>
            <a:ext cx="9952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FEED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428625" y="1409700"/>
            <a:ext cx="4002286" cy="1323975"/>
          </a:xfrm>
          <a:prstGeom prst="roundRect">
            <a:avLst>
              <a:gd name="adj" fmla="val 100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0550" y="1552575"/>
            <a:ext cx="361950" cy="3619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552450" y="15525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47750" y="1590675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47750" y="1733550"/>
            <a:ext cx="8832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· Pretoria East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90550" y="1990725"/>
            <a:ext cx="37979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someone to install artificial grass at my new place. Anyone know a trusted company?"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0550" y="2505075"/>
            <a:ext cx="3797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comments · 2 shares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428625" y="2847975"/>
            <a:ext cx="4002286" cy="1076325"/>
          </a:xfrm>
          <a:prstGeom prst="roundRect">
            <a:avLst>
              <a:gd name="adj" fmla="val 12389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0550" y="3009900"/>
            <a:ext cx="323850" cy="323850"/>
          </a:xfrm>
          <a:prstGeom prst="ellipse">
            <a:avLst/>
          </a:prstGeom>
          <a:gradFill rotWithShape="1">
            <a:gsLst>
              <a:gs pos="0">
                <a:srgbClr val="D4AF37">
                  <a:alpha val="100000"/>
                </a:srgbClr>
              </a:gs>
              <a:gs pos="100000">
                <a:srgbClr val="8A6A1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552450" y="30099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9650" y="3086100"/>
            <a:ext cx="24949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Stiaan </a:t>
            </a:r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 a trusted vendor via </a:t>
            </a:r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590550" y="3429000"/>
            <a:ext cx="3678436" cy="333375"/>
          </a:xfrm>
          <a:prstGeom prst="roundRect">
            <a:avLst>
              <a:gd name="adj" fmla="val 28571"/>
            </a:avLst>
          </a:prstGeom>
          <a:solidFill>
            <a:srgbClr val="060D1C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23900" y="3524250"/>
            <a:ext cx="566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06018" y="3524250"/>
            <a:ext cx="1352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485775" y="4076700"/>
            <a:ext cx="285750" cy="285750"/>
          </a:xfrm>
          <a:prstGeom prst="ellipse">
            <a:avLst/>
          </a:prstGeom>
          <a:gradFill rotWithShape="1">
            <a:gsLst>
              <a:gs pos="0">
                <a:srgbClr val="3A4A6B">
                  <a:alpha val="100000"/>
                </a:srgbClr>
              </a:gs>
              <a:gs pos="100000">
                <a:srgbClr val="1A274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9" name="Text 26"/>
          <p:cNvSpPr/>
          <p:nvPr/>
        </p:nvSpPr>
        <p:spPr>
          <a:xfrm>
            <a:off x="447675" y="407670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866775" y="4076700"/>
            <a:ext cx="3037880" cy="361950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00125" y="4171950"/>
            <a:ext cx="2862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Stiaan! Just accepted the connection 🙌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428625" y="4591050"/>
            <a:ext cx="4002286" cy="723900"/>
          </a:xfrm>
          <a:prstGeom prst="roundRect">
            <a:avLst>
              <a:gd name="adj" fmla="val 1842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6628" y="4752975"/>
            <a:ext cx="40462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Connected! ✓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406628" y="4991100"/>
            <a:ext cx="40462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7F5E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× PrimeTurf, introduced by Stiaan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64286" y="828675"/>
            <a:ext cx="4326136" cy="7362825"/>
          </a:xfrm>
          <a:prstGeom prst="roundRect">
            <a:avLst>
              <a:gd name="adj" fmla="val 39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73811" y="1247775"/>
            <a:ext cx="430708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945261" y="1000125"/>
            <a:ext cx="85725" cy="85725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38" name="Text 35"/>
          <p:cNvSpPr/>
          <p:nvPr/>
        </p:nvSpPr>
        <p:spPr>
          <a:xfrm>
            <a:off x="5107186" y="971550"/>
            <a:ext cx="912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7737574" y="971550"/>
            <a:ext cx="12480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✓ verified</a:t>
            </a:r>
            <a:endParaRPr lang="en-US" sz="825" dirty="0"/>
          </a:p>
        </p:txBody>
      </p:sp>
      <p:sp>
        <p:nvSpPr>
          <p:cNvPr id="40" name="Shape 37"/>
          <p:cNvSpPr/>
          <p:nvPr/>
        </p:nvSpPr>
        <p:spPr>
          <a:xfrm>
            <a:off x="4926211" y="1409700"/>
            <a:ext cx="3708648" cy="735211"/>
          </a:xfrm>
          <a:prstGeom prst="roundRect">
            <a:avLst>
              <a:gd name="adj" fmla="val 1813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5059561" y="1514475"/>
            <a:ext cx="37861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059561" y="1681163"/>
            <a:ext cx="3503204" cy="3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Sarah 👋 Stiaan has connected you with a trusted vendor for artificial grass installation. Accept this connection?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6908304" y="2240161"/>
            <a:ext cx="2020193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041654" y="2344936"/>
            <a:ext cx="19288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041654" y="2511623"/>
            <a:ext cx="19288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accept the connection ✓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4926211" y="2891135"/>
            <a:ext cx="3708648" cy="735211"/>
          </a:xfrm>
          <a:prstGeom prst="roundRect">
            <a:avLst>
              <a:gd name="adj" fmla="val 1813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5059561" y="2995910"/>
            <a:ext cx="37861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ASSISTANT → PRIMETURF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059561" y="3162598"/>
            <a:ext cx="3541834" cy="3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TCN opportunity: Artificial Grass Installation — Sarah M., Pretoria East. Connected by Stiaan.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6082605" y="3721596"/>
            <a:ext cx="2845891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6215955" y="3826371"/>
            <a:ext cx="283711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215955" y="3993059"/>
            <a:ext cx="28371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accepted. We will contact Sarah today ✓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6308973" y="4372570"/>
            <a:ext cx="2619524" cy="555724"/>
          </a:xfrm>
          <a:prstGeom prst="roundRect">
            <a:avLst>
              <a:gd name="adj" fmla="val 23996"/>
            </a:avLst>
          </a:prstGeom>
          <a:solidFill>
            <a:srgbClr val="25D366">
              <a:alpha val="16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6442323" y="4477345"/>
            <a:ext cx="25881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b="1" spc="45" kern="0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442323" y="4644033"/>
            <a:ext cx="25881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Great! Please send me a quote for ±60m².</a:t>
            </a:r>
            <a:endParaRPr lang="en-US" sz="975" dirty="0"/>
          </a:p>
        </p:txBody>
      </p:sp>
      <p:sp>
        <p:nvSpPr>
          <p:cNvPr id="55" name="Shape 52"/>
          <p:cNvSpPr/>
          <p:nvPr/>
        </p:nvSpPr>
        <p:spPr>
          <a:xfrm>
            <a:off x="9261872" y="828675"/>
            <a:ext cx="4758928" cy="7362825"/>
          </a:xfrm>
          <a:prstGeom prst="roundRect">
            <a:avLst>
              <a:gd name="adj" fmla="val 360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271397" y="1247775"/>
            <a:ext cx="473987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442847" y="1000125"/>
            <a:ext cx="85725" cy="85725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8" name="Text 55"/>
          <p:cNvSpPr/>
          <p:nvPr/>
        </p:nvSpPr>
        <p:spPr>
          <a:xfrm>
            <a:off x="9604772" y="971550"/>
            <a:ext cx="9350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975" dirty="0"/>
          </a:p>
        </p:txBody>
      </p:sp>
      <p:sp>
        <p:nvSpPr>
          <p:cNvPr id="59" name="Text 56"/>
          <p:cNvSpPr/>
          <p:nvPr/>
        </p:nvSpPr>
        <p:spPr>
          <a:xfrm>
            <a:off x="12704713" y="976312"/>
            <a:ext cx="121131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TCN-PTA-2026-00192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9423797" y="1409700"/>
            <a:ext cx="4435078" cy="1114425"/>
          </a:xfrm>
          <a:prstGeom prst="roundRect">
            <a:avLst>
              <a:gd name="adj" fmla="val 11966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585722" y="1571625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GRAPH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9800630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935170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64" name="Text 61"/>
          <p:cNvSpPr/>
          <p:nvPr/>
        </p:nvSpPr>
        <p:spPr>
          <a:xfrm>
            <a:off x="9718923" y="2238375"/>
            <a:ext cx="525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713" dirty="0"/>
          </a:p>
        </p:txBody>
      </p:sp>
      <p:sp>
        <p:nvSpPr>
          <p:cNvPr id="65" name="Shape 62"/>
          <p:cNvSpPr/>
          <p:nvPr/>
        </p:nvSpPr>
        <p:spPr>
          <a:xfrm>
            <a:off x="10630495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765036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67" name="Text 64"/>
          <p:cNvSpPr/>
          <p:nvPr/>
        </p:nvSpPr>
        <p:spPr>
          <a:xfrm>
            <a:off x="10565309" y="2238375"/>
            <a:ext cx="492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13" dirty="0"/>
          </a:p>
        </p:txBody>
      </p:sp>
      <p:sp>
        <p:nvSpPr>
          <p:cNvPr id="68" name="Shape 65"/>
          <p:cNvSpPr/>
          <p:nvPr/>
        </p:nvSpPr>
        <p:spPr>
          <a:xfrm>
            <a:off x="11460361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1594902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70" name="Text 67"/>
          <p:cNvSpPr/>
          <p:nvPr/>
        </p:nvSpPr>
        <p:spPr>
          <a:xfrm>
            <a:off x="11456194" y="2238375"/>
            <a:ext cx="3701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713" dirty="0"/>
          </a:p>
        </p:txBody>
      </p:sp>
      <p:sp>
        <p:nvSpPr>
          <p:cNvPr id="71" name="Shape 68"/>
          <p:cNvSpPr/>
          <p:nvPr/>
        </p:nvSpPr>
        <p:spPr>
          <a:xfrm>
            <a:off x="12290227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2424767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73" name="Text 70"/>
          <p:cNvSpPr/>
          <p:nvPr/>
        </p:nvSpPr>
        <p:spPr>
          <a:xfrm>
            <a:off x="12184707" y="2238375"/>
            <a:ext cx="572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713" dirty="0"/>
          </a:p>
        </p:txBody>
      </p:sp>
      <p:sp>
        <p:nvSpPr>
          <p:cNvPr id="74" name="Shape 71"/>
          <p:cNvSpPr/>
          <p:nvPr/>
        </p:nvSpPr>
        <p:spPr>
          <a:xfrm>
            <a:off x="13120092" y="1819275"/>
            <a:ext cx="361950" cy="361950"/>
          </a:xfrm>
          <a:prstGeom prst="ellipse">
            <a:avLst/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3254633" y="1914525"/>
            <a:ext cx="1690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76" name="Text 73"/>
          <p:cNvSpPr/>
          <p:nvPr/>
        </p:nvSpPr>
        <p:spPr>
          <a:xfrm>
            <a:off x="13107591" y="2238375"/>
            <a:ext cx="386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13" dirty="0"/>
          </a:p>
        </p:txBody>
      </p:sp>
      <p:sp>
        <p:nvSpPr>
          <p:cNvPr id="77" name="Shape 74"/>
          <p:cNvSpPr/>
          <p:nvPr/>
        </p:nvSpPr>
        <p:spPr>
          <a:xfrm>
            <a:off x="9423797" y="2657475"/>
            <a:ext cx="1414760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468311" y="2781300"/>
            <a:ext cx="13257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1125" dirty="0"/>
          </a:p>
        </p:txBody>
      </p:sp>
      <p:sp>
        <p:nvSpPr>
          <p:cNvPr id="79" name="Text 76"/>
          <p:cNvSpPr/>
          <p:nvPr/>
        </p:nvSpPr>
        <p:spPr>
          <a:xfrm>
            <a:off x="9468311" y="2981325"/>
            <a:ext cx="1325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Rewards</a:t>
            </a:r>
            <a:endParaRPr lang="en-US" sz="713" dirty="0"/>
          </a:p>
        </p:txBody>
      </p:sp>
      <p:sp>
        <p:nvSpPr>
          <p:cNvPr id="80" name="Shape 77"/>
          <p:cNvSpPr/>
          <p:nvPr/>
        </p:nvSpPr>
        <p:spPr>
          <a:xfrm>
            <a:off x="10933807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0978314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R9,750</a:t>
            </a:r>
            <a:endParaRPr lang="en-US" sz="1125" dirty="0"/>
          </a:p>
        </p:txBody>
      </p:sp>
      <p:sp>
        <p:nvSpPr>
          <p:cNvPr id="82" name="Text 79"/>
          <p:cNvSpPr/>
          <p:nvPr/>
        </p:nvSpPr>
        <p:spPr>
          <a:xfrm>
            <a:off x="10978314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Rewards</a:t>
            </a:r>
            <a:endParaRPr lang="en-US" sz="713" dirty="0"/>
          </a:p>
        </p:txBody>
      </p:sp>
      <p:sp>
        <p:nvSpPr>
          <p:cNvPr id="83" name="Shape 80"/>
          <p:cNvSpPr/>
          <p:nvPr/>
        </p:nvSpPr>
        <p:spPr>
          <a:xfrm>
            <a:off x="12443966" y="2657475"/>
            <a:ext cx="1414909" cy="571500"/>
          </a:xfrm>
          <a:prstGeom prst="roundRect">
            <a:avLst>
              <a:gd name="adj" fmla="val 20000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2488473" y="2781300"/>
            <a:ext cx="13258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25" dirty="0"/>
          </a:p>
        </p:txBody>
      </p:sp>
      <p:sp>
        <p:nvSpPr>
          <p:cNvPr id="85" name="Text 82"/>
          <p:cNvSpPr/>
          <p:nvPr/>
        </p:nvSpPr>
        <p:spPr>
          <a:xfrm>
            <a:off x="12488473" y="2981325"/>
            <a:ext cx="13258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Connections</a:t>
            </a:r>
            <a:endParaRPr lang="en-US" sz="713" dirty="0"/>
          </a:p>
        </p:txBody>
      </p:sp>
      <p:sp>
        <p:nvSpPr>
          <p:cNvPr id="86" name="Shape 83"/>
          <p:cNvSpPr/>
          <p:nvPr/>
        </p:nvSpPr>
        <p:spPr>
          <a:xfrm>
            <a:off x="9423797" y="3362325"/>
            <a:ext cx="4435078" cy="4667250"/>
          </a:xfrm>
          <a:prstGeom prst="roundRect">
            <a:avLst>
              <a:gd name="adj" fmla="val 3007"/>
            </a:avLst>
          </a:prstGeom>
          <a:solidFill>
            <a:srgbClr val="060D1C">
              <a:alpha val="50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9585722" y="3505200"/>
            <a:ext cx="45223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750" dirty="0"/>
          </a:p>
        </p:txBody>
      </p:sp>
      <p:sp>
        <p:nvSpPr>
          <p:cNvPr id="88" name="Shape 85"/>
          <p:cNvSpPr/>
          <p:nvPr/>
        </p:nvSpPr>
        <p:spPr>
          <a:xfrm>
            <a:off x="9585722" y="4029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9585722" y="3800475"/>
            <a:ext cx="3156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021s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9920436" y="3800475"/>
            <a:ext cx="231094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distributed to connector: R1,250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9585722" y="43338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2" name="Text 89"/>
          <p:cNvSpPr/>
          <p:nvPr/>
        </p:nvSpPr>
        <p:spPr>
          <a:xfrm>
            <a:off x="9585722" y="4105275"/>
            <a:ext cx="3170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018s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9921776" y="4105275"/>
            <a:ext cx="19727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completed — R25,000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9585722" y="46386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5" name="Text 92"/>
          <p:cNvSpPr/>
          <p:nvPr/>
        </p:nvSpPr>
        <p:spPr>
          <a:xfrm>
            <a:off x="9585722" y="4410075"/>
            <a:ext cx="3214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016s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9926241" y="4410075"/>
            <a:ext cx="23186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requested — pipeline: Quote Sent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9585722" y="49434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8" name="Text 95"/>
          <p:cNvSpPr/>
          <p:nvPr/>
        </p:nvSpPr>
        <p:spPr>
          <a:xfrm>
            <a:off x="9585722" y="4714875"/>
            <a:ext cx="317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014s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9922222" y="4714875"/>
            <a:ext cx="2545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 lead — pipeline: Contacted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9585722" y="52482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1" name="Text 98"/>
          <p:cNvSpPr/>
          <p:nvPr/>
        </p:nvSpPr>
        <p:spPr>
          <a:xfrm>
            <a:off x="9585722" y="5019675"/>
            <a:ext cx="3202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010s</a:t>
            </a:r>
            <a:endParaRPr lang="en-US" sz="900" dirty="0"/>
          </a:p>
        </p:txBody>
      </p:sp>
      <p:sp>
        <p:nvSpPr>
          <p:cNvPr id="102" name="Text 99"/>
          <p:cNvSpPr/>
          <p:nvPr/>
        </p:nvSpPr>
        <p:spPr>
          <a:xfrm>
            <a:off x="9925050" y="5019675"/>
            <a:ext cx="24407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 matched — verified vendor, 4.9★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9585722" y="55530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4" name="Text 101"/>
          <p:cNvSpPr/>
          <p:nvPr/>
        </p:nvSpPr>
        <p:spPr>
          <a:xfrm>
            <a:off x="9585722" y="5324475"/>
            <a:ext cx="272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08s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9877127" y="5324475"/>
            <a:ext cx="24019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matching: category + location + rating…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9585722" y="58578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7" name="Text 104"/>
          <p:cNvSpPr/>
          <p:nvPr/>
        </p:nvSpPr>
        <p:spPr>
          <a:xfrm>
            <a:off x="9585722" y="5629275"/>
            <a:ext cx="2769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06s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9881741" y="5629275"/>
            <a:ext cx="18383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accepted connection</a:t>
            </a:r>
            <a:endParaRPr lang="en-US" sz="900" dirty="0"/>
          </a:p>
        </p:txBody>
      </p:sp>
      <p:sp>
        <p:nvSpPr>
          <p:cNvPr id="109" name="Shape 106"/>
          <p:cNvSpPr/>
          <p:nvPr/>
        </p:nvSpPr>
        <p:spPr>
          <a:xfrm>
            <a:off x="9585722" y="61626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0" name="Text 107"/>
          <p:cNvSpPr/>
          <p:nvPr/>
        </p:nvSpPr>
        <p:spPr>
          <a:xfrm>
            <a:off x="9585722" y="5934075"/>
            <a:ext cx="27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02s</a:t>
            </a:r>
            <a:endParaRPr lang="en-US" sz="900" dirty="0"/>
          </a:p>
        </p:txBody>
      </p:sp>
      <p:sp>
        <p:nvSpPr>
          <p:cNvPr id="111" name="Text 108"/>
          <p:cNvSpPr/>
          <p:nvPr/>
        </p:nvSpPr>
        <p:spPr>
          <a:xfrm>
            <a:off x="9875937" y="5934075"/>
            <a:ext cx="2567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ID generated: TCN-PTA-2026-00192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9585722" y="6467475"/>
            <a:ext cx="411122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3" name="Text 110"/>
          <p:cNvSpPr/>
          <p:nvPr/>
        </p:nvSpPr>
        <p:spPr>
          <a:xfrm>
            <a:off x="9585722" y="6238875"/>
            <a:ext cx="2757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2D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00s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9880550" y="6238875"/>
            <a:ext cx="288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opportunity created — Sarah M., Pretoria East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2026-07-09T12:08:49Z</dcterms:created>
  <dcterms:modified xsi:type="dcterms:W3CDTF">2026-07-09T12:08:49Z</dcterms:modified>
</cp:coreProperties>
</file>